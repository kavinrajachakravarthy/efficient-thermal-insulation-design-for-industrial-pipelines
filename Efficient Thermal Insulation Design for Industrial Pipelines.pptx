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DA"/>
    <a:srgbClr val="FFFFBF"/>
    <a:srgbClr val="FFFACD"/>
    <a:srgbClr val="FFFCF3"/>
    <a:srgbClr val="FFFEFB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FA9B9-E122-4305-9F3E-33BB0FCF7C86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72237-131E-4425-A3EB-6778A8DE7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69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72237-131E-4425-A3EB-6778A8DE7AE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1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22D-DE99-A5B4-CB90-57D231081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5D91E-01AE-10B6-B61E-4B14AEDA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485CE-B7B1-0E4E-5DE7-8F6A81F0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B3CE2-2675-39D1-E8D3-00C60BE0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0733-57B5-CD49-69F8-9218EF73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1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263E-49E7-DD5F-C3A4-D0E2DDB2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B0D3-C7B7-7CFA-E107-2FC2CF8AD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FCA69-0547-DD60-0388-05031465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ED5D-E2B2-C06F-1BC4-C7347464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01678-9038-454F-47BA-A358BE77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86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1FAC-BEF3-1BDD-99A4-DE15BA06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7511-AFB4-393C-6175-95BCA78FE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55126-6508-D202-7327-FE65D0D2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1A81A-EEB4-D55C-9F4C-FBF60C16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B1EF0-5E0A-216A-6A34-1162B994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37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8B6C-D464-484C-0459-50616696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4998-464E-B951-40C5-073382EFF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4A4C7-7D13-3A48-4EC7-62AD96658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72BE6-ECA5-0369-682E-2442FE97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A5A31-DD1B-F95B-5BF7-D9C8E7B3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0926-0B46-9DC9-846A-B3C5CA9E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5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8D4C-9726-A4BB-DC9D-C1A12B65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21E5-BCDE-47A3-F159-A88D83189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6F82-453B-3815-F410-827BFD880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ACA1C-0C45-C951-0B8D-C5CEA4CD9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F2D0F-770A-6142-5C0B-33E3C245A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9AE58-0B99-A799-2424-1A49B2AE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AA2A6-7C65-8A7D-59F4-8988DAD4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A7A64-36E6-A5D8-A377-BF5BEECD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037F-61E2-8B93-9C61-BACFEFCB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8F090-D5D2-22CC-79AE-E570CD1E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AD8A4-5E4B-E9D0-0A6D-7FE63EE8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61648-FFE9-B4EF-399C-50773D96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1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AFDC7-7FA9-C0C3-E051-4084453B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E2D7C-ECB9-0DA7-3EAB-92D06D6B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204E8-1809-BA46-B386-838B81C7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0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BABF-372B-41A4-341D-65EAA497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2004-B02D-5582-CF92-97C9F9AC0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C5B2-1AB7-53CF-6767-D91F0E331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51C1B-CC3C-0041-95B4-B5F9F9EC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716F9-6DCA-352F-923A-A0DA542F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92520-E5D7-8887-FC33-44D5CE37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B310-4752-D4D7-E19B-ECB16D5C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AED80-FADC-1261-90C2-71CA5316E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6F43E-B14C-608B-3105-BD8F4329C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2D167-F4B4-EC4A-5398-03F836AD5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7346B-5752-791E-01B4-A527EF34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E03B4-BFF2-8682-386E-47782689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3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5EC9-C228-CEE3-BDE3-69538D3D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7774-2D02-B5BB-4E31-D5E1B2BE1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6C43E-BC6C-3717-8F99-5388825B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99ED-33CF-4269-8945-30167227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00E5-F698-0B91-C789-DF7EB70B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63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EE65A-7544-ED56-A1D6-9D54E02C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5B184-6F29-B0D2-8439-74C21C3EA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3039-71E1-8A33-6594-5B82A4B3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9A53-7EE4-4541-8C35-C6B44F01BC1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A9910-5E16-843F-0674-DEDFEBF0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7393-6032-30FC-321F-437E9D7A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B5BF-E2A1-4190-BC02-4F821018AF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2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0C13E-2E01-1320-15ED-8AA4FF63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3BD94-F8BC-CEA4-A8ED-F4660E6BE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77474-9F71-DFB9-A082-2850D8F33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EEE9A53-7EE4-4541-8C35-C6B44F01BC19}" type="datetimeFigureOut">
              <a:rPr lang="en-IN" smtClean="0"/>
              <a:pPr/>
              <a:t>31-12-2025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D0934-8A72-67CD-AAF9-F11946CC1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3DF6E-2166-4163-CD76-1823BEACC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125B5BF-E2A1-4190-BC02-4F821018AFB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06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kavinrajachakravarthy/Efficient-Thermal-Insulation-Design-for-Industrial-Pipelin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A783-0263-8793-1114-DC58E00AC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Efficient Thermal Insulation Design for Industrial Pipelines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97487-17AA-A1F7-FD80-2C40EEAE3F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(Reducing Heat Loss While Minimizing Insulation Material Cost)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77B69-EB8B-5653-840E-01D0C89A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189CB-1393-9162-0DC6-2AA39C34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C08A4B-266A-72AE-BE5F-2FD4E24884B2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0A0DF-0DEE-32AB-F473-EEADEDCE201D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3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EAC39-6439-07FA-67DC-C0329A4E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1FA7D8-0737-D793-763A-B224BB67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A4002-0CA8-D769-3395-A80B18A2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78"/>
            <a:ext cx="7053775" cy="464358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industrial plants, hot fluids are transported through pipes.</a:t>
            </a:r>
          </a:p>
          <a:p>
            <a:r>
              <a:rPr lang="en-US" sz="2400" dirty="0"/>
              <a:t>Insulation is provided to reduce heat loss to the surroundings.</a:t>
            </a:r>
          </a:p>
          <a:p>
            <a:pPr marL="0" indent="0">
              <a:buNone/>
            </a:pPr>
            <a:r>
              <a:rPr lang="en-US" b="1" dirty="0"/>
              <a:t>However:</a:t>
            </a:r>
          </a:p>
          <a:p>
            <a:pPr lvl="1"/>
            <a:r>
              <a:rPr lang="en-US" dirty="0"/>
              <a:t>Insufficient insulation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excessive heat loss and energy wastage</a:t>
            </a:r>
          </a:p>
          <a:p>
            <a:pPr lvl="1"/>
            <a:r>
              <a:rPr lang="en-US" dirty="0"/>
              <a:t>Excessive insulation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unnecessary material and installation cost</a:t>
            </a:r>
          </a:p>
          <a:p>
            <a:pPr marL="0" indent="0">
              <a:buNone/>
            </a:pPr>
            <a:r>
              <a:rPr lang="en-US" b="1" dirty="0"/>
              <a:t>Engineering challenge: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Determine the </a:t>
            </a:r>
            <a:r>
              <a:rPr lang="en-US" sz="2400" b="1" dirty="0"/>
              <a:t>optimal insulation thickness</a:t>
            </a:r>
            <a:r>
              <a:rPr lang="en-US" sz="2400" dirty="0"/>
              <a:t> that minimizes </a:t>
            </a:r>
            <a:r>
              <a:rPr lang="en-US" sz="2400" b="1" dirty="0"/>
              <a:t>heat loss</a:t>
            </a:r>
            <a:r>
              <a:rPr lang="en-US" sz="2400" dirty="0"/>
              <a:t> and </a:t>
            </a:r>
            <a:r>
              <a:rPr lang="en-US" sz="2400" b="1" dirty="0"/>
              <a:t>total cost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6AEF3-5829-A3D6-8D7D-E17DC23DE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D523AA-E1E8-38CF-E33A-8A510AACC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53EBA-55F4-115F-BFA0-F3E788204865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C1E1C-CB73-2518-AF14-C2ECB13DE831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pic>
        <p:nvPicPr>
          <p:cNvPr id="2050" name="Picture 2" descr="Buckaroos | Industrial Pipe Insulation ...">
            <a:extLst>
              <a:ext uri="{FF2B5EF4-FFF2-40B4-BE49-F238E27FC236}">
                <a16:creationId xmlns:a16="http://schemas.microsoft.com/office/drawing/2014/main" id="{D7B841D0-AC7B-16B9-A586-2AD4E338B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975" y="1076123"/>
            <a:ext cx="3608798" cy="20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pe Insulation&quot; Images – Browse 1,479 Stock Photos, Vectors, and Video |  Adobe Stock">
            <a:extLst>
              <a:ext uri="{FF2B5EF4-FFF2-40B4-BE49-F238E27FC236}">
                <a16:creationId xmlns:a16="http://schemas.microsoft.com/office/drawing/2014/main" id="{813512AB-BD8E-66CC-9762-4C149283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975" y="3376011"/>
            <a:ext cx="3608799" cy="240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25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1B515-F5B8-ACED-8DFC-89292CD3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AECEAD-1BD0-89E7-25AC-0B8C7711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05" y="365126"/>
            <a:ext cx="11155680" cy="9932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Heat Transfer Mechanism in Insulated Pipes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C18AA-ED18-2DE3-6FA8-B024781FB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78"/>
            <a:ext cx="6280052" cy="464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Heat transfer from a hot pipe occurs mainly by: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/>
              <a:t>Conduction</a:t>
            </a:r>
            <a:r>
              <a:rPr lang="en-US" sz="2000" dirty="0"/>
              <a:t> through pipe wall and insulation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/>
              <a:t>Convection</a:t>
            </a:r>
            <a:r>
              <a:rPr lang="en-US" sz="2000" dirty="0"/>
              <a:t> from outer insulation surface to ambient air</a:t>
            </a:r>
          </a:p>
          <a:p>
            <a:r>
              <a:rPr lang="en-US" sz="2000" dirty="0"/>
              <a:t>For long pipes under steady state, heat transfer is treated as</a:t>
            </a:r>
            <a:br>
              <a:rPr lang="en-US" sz="2000" dirty="0"/>
            </a:br>
            <a:r>
              <a:rPr lang="en-US" sz="2000" b="1" dirty="0"/>
              <a:t>one-dimensional radial heat flow</a:t>
            </a:r>
            <a:r>
              <a:rPr lang="en-US" sz="2000" dirty="0"/>
              <a:t>.</a:t>
            </a:r>
          </a:p>
          <a:p>
            <a:r>
              <a:rPr lang="en-US" sz="2000" dirty="0"/>
              <a:t>This makes cylindrical heat transfer theory applicable.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BA11C-4101-C90D-97E4-ECC4352F8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F24A0F-A60B-D446-4FBF-E45FDF664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D32CE1-6DA2-C4F7-0A73-2A1F46C8D1AE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C9175-9D12-ACF6-2CBB-53388FBC4E68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C5B71-C6C7-96DC-E089-DFA02D1D21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0" t="32290" r="36885" b="34359"/>
          <a:stretch>
            <a:fillRect/>
          </a:stretch>
        </p:blipFill>
        <p:spPr>
          <a:xfrm>
            <a:off x="7315200" y="2115940"/>
            <a:ext cx="4416261" cy="3018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534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3A119-00DE-E70E-0274-F1A4054E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8BB35-FD2B-DF49-4808-9FC614DA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Heat Transfer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65927C-63D7-AED1-F3AF-CA32A068A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5754"/>
                <a:ext cx="7011572" cy="49940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Radial Heat Conduction through Insulation</a:t>
                </a:r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𝑄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2</m:t>
                          </m:r>
                          <m:r>
                            <a:rPr lang="ar-AE" i="1"/>
                            <m:t>𝜋</m:t>
                          </m:r>
                          <m:r>
                            <a:rPr lang="ar-AE" i="1"/>
                            <m:t>𝑘𝐿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𝑇</m:t>
                                  </m:r>
                                </m:e>
                                <m:sub>
                                  <m:r>
                                    <a:rPr lang="ar-AE"/>
                                    <m:t>1</m:t>
                                  </m:r>
                                </m:sub>
                              </m:sSub>
                              <m:r>
                                <a:rPr lang="ar-AE"/>
                                <m:t>−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𝑇</m:t>
                                  </m:r>
                                </m:e>
                                <m:sub>
                                  <m:r>
                                    <a:rPr lang="ar-AE"/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i="1"/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AE" i="1"/>
                                          </m:ctrlPr>
                                        </m:sSubPr>
                                        <m:e>
                                          <m:r>
                                            <a:rPr lang="ar-AE" i="1"/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/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i="1"/>
                                          </m:ctrlPr>
                                        </m:sSubPr>
                                        <m:e>
                                          <m:r>
                                            <a:rPr lang="ar-AE" i="1"/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/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𝑄</m:t>
                    </m:r>
                  </m:oMath>
                </a14:m>
                <a:r>
                  <a:rPr lang="en-IN" dirty="0"/>
                  <a:t>= Heat loss (W)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𝑘</m:t>
                    </m:r>
                  </m:oMath>
                </a14:m>
                <a:r>
                  <a:rPr lang="en-IN" dirty="0"/>
                  <a:t>= Thermal conductivity of insulation (W/</a:t>
                </a:r>
                <a:r>
                  <a:rPr lang="en-IN" dirty="0" err="1"/>
                  <a:t>m·K</a:t>
                </a:r>
                <a:r>
                  <a:rPr lang="en-IN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/>
                      <m:t>𝐿</m:t>
                    </m:r>
                  </m:oMath>
                </a14:m>
                <a:r>
                  <a:rPr lang="en-IN" dirty="0"/>
                  <a:t>= Length of pipe (m)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Pipe surface temperature (°C)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Outer insulation surface temperature (°C)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𝑟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Outer radius of pipe (m)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𝑟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Outer radius of insulation (m)</a:t>
                </a:r>
              </a:p>
              <a:p>
                <a:pPr marL="0" indent="0">
                  <a:buNone/>
                </a:pPr>
                <a:r>
                  <a:rPr lang="en-IN" b="1" dirty="0"/>
                  <a:t>Key observation:</a:t>
                </a:r>
                <a:br>
                  <a:rPr lang="en-IN" dirty="0"/>
                </a:br>
                <a:r>
                  <a:rPr lang="en-IN" dirty="0"/>
                  <a:t>Heat loss decreases </a:t>
                </a:r>
                <a:r>
                  <a:rPr lang="en-IN" b="1" dirty="0"/>
                  <a:t>logarithmically</a:t>
                </a:r>
                <a:r>
                  <a:rPr lang="en-IN" dirty="0"/>
                  <a:t> as insulation thickness increases.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65927C-63D7-AED1-F3AF-CA32A068A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5754"/>
                <a:ext cx="7011572" cy="4994031"/>
              </a:xfrm>
              <a:blipFill>
                <a:blip r:embed="rId2"/>
                <a:stretch>
                  <a:fillRect l="-1391" t="-2930" r="-1826" b="-13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6CAE74C-B6BF-2879-4308-EC6A231D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A6E732-66FD-D4CB-2AF6-4F0E4A9B1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F6D4A-E9F5-A851-B147-8501DA266CD7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84746-6DCB-B740-B81C-91FF457B4CF3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sp>
        <p:nvSpPr>
          <p:cNvPr id="2" name="AutoShape 2" descr="Heat Conduction in Cylindrical Systems - Online Calculator ...">
            <a:extLst>
              <a:ext uri="{FF2B5EF4-FFF2-40B4-BE49-F238E27FC236}">
                <a16:creationId xmlns:a16="http://schemas.microsoft.com/office/drawing/2014/main" id="{035448AC-0577-8FBA-F7C3-7E6673C101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3AB33-09D2-C2F4-D24F-9F7BFC263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56" t="15900" r="3214" b="16754"/>
          <a:stretch>
            <a:fillRect/>
          </a:stretch>
        </p:blipFill>
        <p:spPr>
          <a:xfrm>
            <a:off x="8078372" y="1871004"/>
            <a:ext cx="3046828" cy="239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1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D995F-242F-CCFB-6874-07FED7DC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C5F13-8DD3-9849-CBBC-73ACDBF1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Insulation Thickness for a Hot Pipe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4E0204-46D1-79FA-DC76-43816E926C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Thermal Resistance Concept</a:t>
                </a:r>
              </a:p>
              <a:p>
                <a:pPr marL="0" indent="0">
                  <a:buNone/>
                </a:pPr>
                <a:r>
                  <a:rPr lang="en-IN" dirty="0"/>
                  <a:t>For cylindrical insulation: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𝑅</m:t>
                          </m:r>
                        </m:e>
                        <m:sub>
                          <m:r>
                            <a:rPr lang="ar-AE" i="1"/>
                            <m:t>𝑐𝑜𝑛𝑑</m:t>
                          </m:r>
                        </m:sub>
                      </m:sSub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i="1"/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AE" i="1"/>
                                          </m:ctrlPr>
                                        </m:sSubPr>
                                        <m:e>
                                          <m:r>
                                            <a:rPr lang="ar-AE" i="1"/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/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i="1"/>
                                          </m:ctrlPr>
                                        </m:sSubPr>
                                        <m:e>
                                          <m:r>
                                            <a:rPr lang="ar-AE" i="1"/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/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ar-AE"/>
                            <m:t>2</m:t>
                          </m:r>
                          <m:r>
                            <a:rPr lang="ar-AE" i="1"/>
                            <m:t>𝜋</m:t>
                          </m:r>
                          <m:r>
                            <a:rPr lang="ar-AE" i="1"/>
                            <m:t>𝑘𝐿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Heat loss relation: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𝑄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𝑇</m:t>
                                  </m:r>
                                </m:e>
                                <m:sub>
                                  <m:r>
                                    <a:rPr lang="ar-AE" i="1"/>
                                    <m:t>𝑓𝑙𝑢𝑖𝑑</m:t>
                                  </m:r>
                                </m:sub>
                              </m:sSub>
                              <m:r>
                                <a:rPr lang="ar-AE"/>
                                <m:t>−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𝑇</m:t>
                                  </m:r>
                                </m:e>
                                <m:sub>
                                  <m:r>
                                    <a:rPr lang="ar-AE" i="1"/>
                                    <m:t>𝑎𝑚𝑏𝑖𝑒𝑛𝑡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𝑅</m:t>
                              </m:r>
                            </m:e>
                            <m:sub>
                              <m:r>
                                <a:rPr lang="ar-AE" i="1"/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As insulation thickness increases: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𝑟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increases</a:t>
                </a:r>
              </a:p>
              <a:p>
                <a:pPr lvl="1"/>
                <a:r>
                  <a:rPr lang="en-IN" dirty="0"/>
                  <a:t>Thermal resistance increases</a:t>
                </a:r>
              </a:p>
              <a:p>
                <a:pPr lvl="1"/>
                <a:r>
                  <a:rPr lang="en-IN" dirty="0"/>
                  <a:t>Heat loss decreases</a:t>
                </a:r>
              </a:p>
              <a:p>
                <a:pPr marL="0" indent="0">
                  <a:buNone/>
                </a:pPr>
                <a:r>
                  <a:rPr lang="en-IN" dirty="0"/>
                  <a:t>But the increase in resistance </a:t>
                </a:r>
                <a:r>
                  <a:rPr lang="en-IN" b="1" dirty="0"/>
                  <a:t>reduces gradually</a:t>
                </a:r>
                <a:r>
                  <a:rPr lang="en-IN" dirty="0"/>
                  <a:t> with thickness.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4E0204-46D1-79FA-DC76-43816E926C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  <a:blipFill>
                <a:blip r:embed="rId2"/>
                <a:stretch>
                  <a:fillRect l="-928" t="-2497" b="-2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2C800CC-B2C0-820B-1D01-7D62F600A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41C48-1954-9118-1C35-0D5A9361B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B1BDF1-01C0-6BB0-19C0-9A888BE1AB94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EA9F0-26A8-75F4-D2BA-FB3CE0B40321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15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6E771-874E-CD72-1F66-E681D16D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0163DD-A16A-3903-23BF-3F01F225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Importance of Proper Insulation Thickness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B9723-1790-FD66-1BC6-CBF437C6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336"/>
            <a:ext cx="10515600" cy="5134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Selecting the correct insulation thickness is a critical engineering decision in industrial piping systems.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Therefore, insulation thickness must be </a:t>
            </a:r>
            <a:r>
              <a:rPr lang="en-US" sz="2000" b="1" dirty="0"/>
              <a:t>optimized</a:t>
            </a:r>
            <a:r>
              <a:rPr lang="en-US" sz="2000" dirty="0"/>
              <a:t>, not maximized, to achieve an efficient and economical piping system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DB81B-3F64-EFC5-CDD2-B44ED59F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F742B-AE32-6C7B-E0A9-F5109DD2A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38AFDC-94AF-E2BE-EF60-B23A23442149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4D212-D34E-AC47-72B2-5D9DD92852E2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3A4330-A8D8-434C-8817-834AD1992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20694"/>
              </p:ext>
            </p:extLst>
          </p:nvPr>
        </p:nvGraphicFramePr>
        <p:xfrm>
          <a:off x="950740" y="2178423"/>
          <a:ext cx="10092396" cy="3368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64132">
                  <a:extLst>
                    <a:ext uri="{9D8B030D-6E8A-4147-A177-3AD203B41FA5}">
                      <a16:colId xmlns:a16="http://schemas.microsoft.com/office/drawing/2014/main" val="1285112133"/>
                    </a:ext>
                  </a:extLst>
                </a:gridCol>
                <a:gridCol w="3364132">
                  <a:extLst>
                    <a:ext uri="{9D8B030D-6E8A-4147-A177-3AD203B41FA5}">
                      <a16:colId xmlns:a16="http://schemas.microsoft.com/office/drawing/2014/main" val="753852754"/>
                    </a:ext>
                  </a:extLst>
                </a:gridCol>
                <a:gridCol w="3364132">
                  <a:extLst>
                    <a:ext uri="{9D8B030D-6E8A-4147-A177-3AD203B41FA5}">
                      <a16:colId xmlns:a16="http://schemas.microsoft.com/office/drawing/2014/main" val="925018076"/>
                    </a:ext>
                  </a:extLst>
                </a:gridCol>
              </a:tblGrid>
              <a:tr h="1852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IN" sz="19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dirty="0">
                          <a:solidFill>
                            <a:srgbClr val="1F1F1F"/>
                          </a:solidFill>
                          <a:effectLst/>
                        </a:rPr>
                        <a:t>Too Thin Insulation</a:t>
                      </a:r>
                      <a:endParaRPr lang="en-IN" sz="19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dirty="0">
                          <a:solidFill>
                            <a:srgbClr val="1F1F1F"/>
                          </a:solidFill>
                          <a:effectLst/>
                        </a:rPr>
                        <a:t>Too Thick Insulation</a:t>
                      </a:r>
                      <a:endParaRPr lang="en-IN" sz="19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308199"/>
                  </a:ext>
                </a:extLst>
              </a:tr>
              <a:tr h="423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>
                          <a:solidFill>
                            <a:srgbClr val="1F1F1F"/>
                          </a:solidFill>
                          <a:effectLst/>
                        </a:rPr>
                        <a:t>Energy Efficiency</a:t>
                      </a:r>
                      <a:endParaRPr lang="en-IN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F1F1F"/>
                          </a:solidFill>
                          <a:effectLst/>
                        </a:rPr>
                        <a:t>High heat loss and energy waste</a:t>
                      </a:r>
                      <a:endParaRPr lang="en-US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>
                          <a:solidFill>
                            <a:srgbClr val="1F1F1F"/>
                          </a:solidFill>
                          <a:effectLst/>
                        </a:rPr>
                        <a:t>Limited additional reduction in heat loss (diminishing returns)</a:t>
                      </a:r>
                      <a:endParaRPr lang="en-US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174393"/>
                  </a:ext>
                </a:extLst>
              </a:tr>
              <a:tr h="3043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>
                          <a:solidFill>
                            <a:srgbClr val="1F1F1F"/>
                          </a:solidFill>
                          <a:effectLst/>
                        </a:rPr>
                        <a:t>Cost</a:t>
                      </a:r>
                      <a:endParaRPr lang="en-IN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F1F1F"/>
                          </a:solidFill>
                          <a:effectLst/>
                        </a:rPr>
                        <a:t>Low initial cost, but high operating cost</a:t>
                      </a:r>
                      <a:endParaRPr lang="en-US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F1F1F"/>
                          </a:solidFill>
                          <a:effectLst/>
                        </a:rPr>
                        <a:t>Higher material and installation cost</a:t>
                      </a:r>
                      <a:endParaRPr lang="en-US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151584"/>
                  </a:ext>
                </a:extLst>
              </a:tr>
              <a:tr h="30438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>
                          <a:solidFill>
                            <a:srgbClr val="1F1F1F"/>
                          </a:solidFill>
                          <a:effectLst/>
                        </a:rPr>
                        <a:t>Safety &amp; Operation</a:t>
                      </a:r>
                      <a:endParaRPr lang="en-IN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dirty="0">
                          <a:solidFill>
                            <a:srgbClr val="1F1F1F"/>
                          </a:solidFill>
                          <a:effectLst/>
                        </a:rPr>
                        <a:t>Unsafe surface temperatures</a:t>
                      </a:r>
                      <a:endParaRPr lang="en-IN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dirty="0">
                          <a:solidFill>
                            <a:srgbClr val="1F1F1F"/>
                          </a:solidFill>
                          <a:effectLst/>
                        </a:rPr>
                        <a:t>Difficult maintenance (due to bulk)</a:t>
                      </a:r>
                      <a:endParaRPr lang="en-IN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085305"/>
                  </a:ext>
                </a:extLst>
              </a:tr>
              <a:tr h="4234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dirty="0">
                          <a:solidFill>
                            <a:srgbClr val="1F1F1F"/>
                          </a:solidFill>
                          <a:effectLst/>
                        </a:rPr>
                        <a:t>Process Control</a:t>
                      </a:r>
                      <a:endParaRPr lang="en-IN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F1F1F"/>
                          </a:solidFill>
                          <a:effectLst/>
                        </a:rPr>
                        <a:t>Poor temperature control in the process</a:t>
                      </a:r>
                      <a:endParaRPr lang="en-US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dirty="0">
                          <a:solidFill>
                            <a:srgbClr val="1F1F1F"/>
                          </a:solidFill>
                          <a:effectLst/>
                        </a:rPr>
                        <a:t>Good control, but potentially excessive for the requirement</a:t>
                      </a:r>
                      <a:endParaRPr lang="en-US" sz="1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2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24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3818A-1BDD-C519-BDBA-8B88B1D6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32DA05-AEDC-97EA-0B2D-514A12A2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Industrial Pipe Insulation: Materials &amp; Selection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DC816-AE4C-364A-9986-310D21C2A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78"/>
            <a:ext cx="10515600" cy="46435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Common Industrial Insulation Materials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Selection Criteria:</a:t>
            </a:r>
            <a:endParaRPr lang="en-US" sz="2400" dirty="0"/>
          </a:p>
          <a:p>
            <a:pPr lvl="1"/>
            <a:r>
              <a:rPr lang="en-US" sz="2000" dirty="0"/>
              <a:t>Low thermal conductivity</a:t>
            </a:r>
          </a:p>
          <a:p>
            <a:pPr lvl="1"/>
            <a:r>
              <a:rPr lang="en-US" sz="2000" dirty="0"/>
              <a:t>Operating temperature limit</a:t>
            </a:r>
          </a:p>
          <a:p>
            <a:pPr lvl="1"/>
            <a:r>
              <a:rPr lang="en-US" sz="2000" dirty="0"/>
              <a:t>Mechanical strength</a:t>
            </a:r>
          </a:p>
          <a:p>
            <a:pPr lvl="1"/>
            <a:r>
              <a:rPr lang="en-US" sz="2000" dirty="0"/>
              <a:t>Cost and availability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FF596-FED5-2BAA-A8AD-5BE0CF0F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690A5-460E-41B0-D3C4-45F5F3AFD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DD369D-7659-5FE7-F1EE-E43A9843D8EF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84D05-185B-5347-90A1-C0C920B61BE4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8C7B25-207C-6514-9496-61DE55B37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084736"/>
              </p:ext>
            </p:extLst>
          </p:nvPr>
        </p:nvGraphicFramePr>
        <p:xfrm>
          <a:off x="838200" y="2144358"/>
          <a:ext cx="10515600" cy="19202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47879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18749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0426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n>
                            <a:noFill/>
                          </a:ln>
                        </a:rPr>
                        <a:t>Material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n>
                            <a:noFill/>
                          </a:ln>
                        </a:rPr>
                        <a:t>Thermal Conductivity (k)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n>
                            <a:noFill/>
                          </a:ln>
                        </a:rPr>
                        <a:t>Typical Use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21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Glass Wool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Steam &amp; hot water 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670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Rock Wool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High-temperature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215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Calcium Silicate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</a:rPr>
                        <a:t>Refinery piping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31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n>
                            <a:noFill/>
                          </a:ln>
                        </a:rPr>
                        <a:t>Polyurethane Foam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</a:rPr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n>
                            <a:noFill/>
                          </a:ln>
                        </a:rPr>
                        <a:t>Cold &amp; moderate hot 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5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1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0690D-411B-FC24-ADDA-BB7E628C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A0B383-1ED8-AB08-2BDE-F7D54B6E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Minimizing Heat Loss in Insulated Piping Systems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C6C51F1-0360-2511-7EF7-39BF12D08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Heat loss can be minimized by:</a:t>
                </a:r>
              </a:p>
              <a:p>
                <a:pPr lvl="1"/>
                <a:r>
                  <a:rPr lang="en-US" sz="2000" dirty="0"/>
                  <a:t>Selecting insulation with </a:t>
                </a:r>
                <a:r>
                  <a:rPr lang="en-US" sz="2000" b="1" dirty="0"/>
                  <a:t>low k value</a:t>
                </a:r>
                <a:endParaRPr lang="en-US" sz="2000" dirty="0"/>
              </a:p>
              <a:p>
                <a:pPr lvl="1"/>
                <a:r>
                  <a:rPr lang="en-US" sz="2000" dirty="0"/>
                  <a:t>Increasing insulation thickness up to an optimal level</a:t>
                </a:r>
              </a:p>
              <a:p>
                <a:pPr lvl="1"/>
                <a:r>
                  <a:rPr lang="en-US" sz="2000" dirty="0"/>
                  <a:t>Reducing temperature difference where possible</a:t>
                </a:r>
              </a:p>
              <a:p>
                <a:pPr marL="0" indent="0">
                  <a:buNone/>
                </a:pPr>
                <a:r>
                  <a:rPr lang="en-US" sz="2400" dirty="0"/>
                  <a:t>Mathematically: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α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So heat loss </a:t>
                </a:r>
                <a:r>
                  <a:rPr lang="en-US" sz="2400" b="1" dirty="0"/>
                  <a:t>never becomes zero</a:t>
                </a:r>
                <a:r>
                  <a:rPr lang="en-US" sz="2400" dirty="0"/>
                  <a:t>, only approaches a lower limit.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C6C51F1-0360-2511-7EF7-39BF12D08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  <a:blipFill>
                <a:blip r:embed="rId2"/>
                <a:stretch>
                  <a:fillRect l="-928" t="-1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9E629A-73B4-BA03-FC54-AF58602EC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ECF3BD-2802-9F94-2718-5CA225992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21F3EC-B09B-9932-C416-493A06079230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0C8EB-C173-F25B-4AB0-B23EC11346D2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47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500F9-B7A6-7B76-DFC5-7FAD9BD5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F69B73-7639-79AE-E9DD-2F3B5971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Insulation Cost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5C73C4E-9F99-B838-B925-126669D1C7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>
                    <a:cs typeface="Arial" panose="020B0604020202020204" pitchFamily="34" charset="0"/>
                  </a:rPr>
                  <a:t>Insulation Material Cost</a:t>
                </a:r>
              </a:p>
              <a:p>
                <a:pPr marL="0" indent="0">
                  <a:buNone/>
                </a:pPr>
                <a:endParaRPr lang="en-IN" sz="2400" b="1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>
                          <a:cs typeface="Arial" panose="020B0604020202020204" pitchFamily="34" charset="0"/>
                        </a:rPr>
                        <m:t>Insulation</m:t>
                      </m:r>
                      <m:r>
                        <m:rPr>
                          <m:nor/>
                        </m:rPr>
                        <a:rPr lang="en-IN" sz="2400" b="0" i="1"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0" i="1">
                          <a:cs typeface="Arial" panose="020B0604020202020204" pitchFamily="34" charset="0"/>
                        </a:rPr>
                        <m:t>Cost</m:t>
                      </m:r>
                      <m:r>
                        <a:rPr lang="en-IN" sz="2400"/>
                        <m:t>∝</m:t>
                      </m:r>
                      <m:r>
                        <m:rPr>
                          <m:nor/>
                        </m:rPr>
                        <a:rPr lang="en-IN" sz="2400" i="1">
                          <a:cs typeface="Arial" panose="020B0604020202020204" pitchFamily="34" charset="0"/>
                        </a:rPr>
                        <m:t>Volume</m:t>
                      </m:r>
                      <m:r>
                        <m:rPr>
                          <m:nor/>
                        </m:rPr>
                        <a:rPr lang="en-IN" sz="2400" i="1"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1">
                          <a:cs typeface="Arial" panose="020B060402020202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i="1"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i="1">
                          <a:cs typeface="Arial" panose="020B0604020202020204" pitchFamily="34" charset="0"/>
                        </a:rPr>
                        <m:t>insulation</m:t>
                      </m:r>
                    </m:oMath>
                  </m:oMathPara>
                </a14:m>
                <a:endParaRPr lang="en-IN" sz="2400" b="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IN" sz="2400" b="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>
                          <a:cs typeface="Arial" panose="020B0604020202020204" pitchFamily="34" charset="0"/>
                        </a:rPr>
                        <m:t>Volume</m:t>
                      </m:r>
                      <m:r>
                        <a:rPr lang="en-IN" sz="2400"/>
                        <m:t>=</m:t>
                      </m:r>
                      <m:r>
                        <a:rPr lang="en-IN" sz="2400" i="1"/>
                        <m:t>𝜋</m:t>
                      </m:r>
                      <m:r>
                        <a:rPr lang="en-IN" sz="2400" i="1"/>
                        <m:t>𝐿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sSubSup>
                            <m:sSubSupPr>
                              <m:ctrlPr>
                                <a:rPr lang="ar-AE" sz="2400" i="1"/>
                              </m:ctrlPr>
                            </m:sSubSupPr>
                            <m:e>
                              <m:r>
                                <a:rPr lang="ar-AE" sz="2400" i="1"/>
                                <m:t>𝑟</m:t>
                              </m:r>
                            </m:e>
                            <m:sub>
                              <m:r>
                                <a:rPr lang="ar-AE" sz="2400"/>
                                <m:t>2</m:t>
                              </m:r>
                            </m:sub>
                            <m:sup>
                              <m:r>
                                <a:rPr lang="ar-AE" sz="2400"/>
                                <m:t>2</m:t>
                              </m:r>
                            </m:sup>
                          </m:sSubSup>
                          <m:r>
                            <a:rPr lang="ar-AE" sz="2400"/>
                            <m:t>−</m:t>
                          </m:r>
                          <m:sSubSup>
                            <m:sSubSupPr>
                              <m:ctrlPr>
                                <a:rPr lang="ar-AE" sz="2400" i="1"/>
                              </m:ctrlPr>
                            </m:sSubSupPr>
                            <m:e>
                              <m:r>
                                <a:rPr lang="ar-AE" sz="2400" i="1"/>
                                <m:t>𝑟</m:t>
                              </m:r>
                            </m:e>
                            <m:sub>
                              <m:r>
                                <a:rPr lang="ar-AE" sz="2400"/>
                                <m:t>1</m:t>
                              </m:r>
                            </m:sub>
                            <m:sup>
                              <m:r>
                                <a:rPr lang="ar-AE" sz="2400"/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sz="2400" b="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cs typeface="Arial" panose="020B0604020202020204" pitchFamily="34" charset="0"/>
                  </a:rPr>
                  <a:t>As thickness increases:</a:t>
                </a:r>
              </a:p>
              <a:p>
                <a:pPr lvl="1"/>
                <a:r>
                  <a:rPr lang="en-IN" dirty="0">
                    <a:cs typeface="Arial" panose="020B0604020202020204" pitchFamily="34" charset="0"/>
                  </a:rPr>
                  <a:t>Material volume increases rapidly</a:t>
                </a:r>
              </a:p>
              <a:p>
                <a:pPr lvl="1"/>
                <a:r>
                  <a:rPr lang="en-IN" dirty="0">
                    <a:cs typeface="Arial" panose="020B0604020202020204" pitchFamily="34" charset="0"/>
                  </a:rPr>
                  <a:t>Installation and maintenance cost increase</a:t>
                </a:r>
              </a:p>
              <a:p>
                <a:pPr marL="0" indent="0">
                  <a:buNone/>
                </a:pPr>
                <a:r>
                  <a:rPr lang="en-IN" sz="2400" dirty="0">
                    <a:cs typeface="Arial" panose="020B0604020202020204" pitchFamily="34" charset="0"/>
                  </a:rPr>
                  <a:t>This creates a </a:t>
                </a:r>
                <a:r>
                  <a:rPr lang="en-IN" sz="2400" b="1" dirty="0">
                    <a:cs typeface="Arial" panose="020B0604020202020204" pitchFamily="34" charset="0"/>
                  </a:rPr>
                  <a:t>direct economic penalty</a:t>
                </a:r>
                <a:r>
                  <a:rPr lang="en-IN" sz="2400" dirty="0">
                    <a:cs typeface="Arial" panose="020B0604020202020204" pitchFamily="34" charset="0"/>
                  </a:rPr>
                  <a:t> for over-insulation.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5C73C4E-9F99-B838-B925-126669D1C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  <a:blipFill>
                <a:blip r:embed="rId2"/>
                <a:stretch>
                  <a:fillRect l="-1217" t="-23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E860E1B-8FDE-418E-1B58-1A85EE30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B33629-C5E3-E1D3-5543-808F104A3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D7A6DF-FD99-45A6-02EE-070DD1EE5F17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19795-9EC1-A0F4-2826-5B08646C9C4D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8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FF08D-6C39-1E22-9AF4-E9592AAD8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0828B-B6C6-B67A-1BE2-D6EFFB4B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Minimizing Insulation Material 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3AA4A85-5C9B-E0F7-379A-04F7C0C6D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378"/>
                <a:ext cx="10781714" cy="4643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Two opposing cost trends: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1) Energy Loss Cost</a:t>
                </a:r>
                <a:endParaRPr lang="en-US" sz="2400" dirty="0"/>
              </a:p>
              <a:p>
                <a:pPr lvl="1"/>
                <a:r>
                  <a:rPr lang="en-US" dirty="0"/>
                  <a:t>High for thin insulation</a:t>
                </a:r>
              </a:p>
              <a:p>
                <a:pPr lvl="1"/>
                <a:r>
                  <a:rPr lang="en-US" dirty="0"/>
                  <a:t>Decreases with thickness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2) Insulation Cost</a:t>
                </a:r>
                <a:endParaRPr lang="en-US" sz="2400" dirty="0"/>
              </a:p>
              <a:p>
                <a:pPr lvl="1"/>
                <a:r>
                  <a:rPr lang="en-US" dirty="0"/>
                  <a:t>Low initially</a:t>
                </a:r>
              </a:p>
              <a:p>
                <a:pPr lvl="1"/>
                <a:r>
                  <a:rPr lang="en-US" dirty="0"/>
                  <a:t>Increases continuously with thickness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Total Cost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/>
                        <m:t>Total</m:t>
                      </m:r>
                      <m:r>
                        <m:rPr>
                          <m:nor/>
                        </m:rPr>
                        <a:rPr lang="en-US" sz="2400" b="0" i="1"/>
                        <m:t> </m:t>
                      </m:r>
                      <m:r>
                        <m:rPr>
                          <m:nor/>
                        </m:rPr>
                        <a:rPr lang="en-US" sz="2400" b="0" i="1"/>
                        <m:t>Cost</m:t>
                      </m:r>
                      <m:r>
                        <a:rPr lang="en-US" sz="2400"/>
                        <m:t>=</m:t>
                      </m:r>
                      <m:r>
                        <m:rPr>
                          <m:nor/>
                        </m:rPr>
                        <a:rPr lang="en-US" sz="2400" i="1"/>
                        <m:t>Energy</m:t>
                      </m:r>
                      <m:r>
                        <m:rPr>
                          <m:nor/>
                        </m:rPr>
                        <a:rPr lang="en-US" sz="2400" i="1"/>
                        <m:t> </m:t>
                      </m:r>
                      <m:r>
                        <m:rPr>
                          <m:nor/>
                        </m:rPr>
                        <a:rPr lang="en-US" sz="2400" i="1"/>
                        <m:t>Cost</m:t>
                      </m:r>
                      <m:r>
                        <a:rPr lang="en-US" sz="2400"/>
                        <m:t>+</m:t>
                      </m:r>
                      <m:r>
                        <m:rPr>
                          <m:nor/>
                        </m:rPr>
                        <a:rPr lang="en-US" sz="2400" i="1"/>
                        <m:t>Insulation</m:t>
                      </m:r>
                      <m:r>
                        <m:rPr>
                          <m:nor/>
                        </m:rPr>
                        <a:rPr lang="en-US" sz="2400" i="1"/>
                        <m:t> </m:t>
                      </m:r>
                      <m:r>
                        <m:rPr>
                          <m:nor/>
                        </m:rPr>
                        <a:rPr lang="en-US" sz="2400" i="1"/>
                        <m:t>Cost</m:t>
                      </m:r>
                    </m:oMath>
                  </m:oMathPara>
                </a14:m>
                <a:endParaRPr lang="en-US" sz="2400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3AA4A85-5C9B-E0F7-379A-04F7C0C6D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378"/>
                <a:ext cx="10781714" cy="4643585"/>
              </a:xfrm>
              <a:blipFill>
                <a:blip r:embed="rId2"/>
                <a:stretch>
                  <a:fillRect l="-905" t="-1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1AB0E0A-D146-2575-AA5E-75A038FDD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66376E-FE68-9289-D087-BA347B8CA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91724A-BEA6-B62C-36E7-20BC9E6A90AB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95E8E-27B6-ADFB-7360-40E620118B3A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275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3A3E5-B865-7821-CD1F-27C70014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A4E832-E2E1-3D6F-BB48-005BF05D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Economic Insulation Thickness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81ABC75-086B-E0AD-3A7E-CBAB95FC1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The </a:t>
                </a:r>
                <a:r>
                  <a:rPr lang="en-IN" sz="2400" b="1" dirty="0"/>
                  <a:t>optimal insulation thickness</a:t>
                </a:r>
                <a:r>
                  <a:rPr lang="en-IN" sz="2400" dirty="0"/>
                  <a:t> is the point where:</a:t>
                </a:r>
              </a:p>
              <a:p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/>
                          </m:ctrlPr>
                        </m:fPr>
                        <m:num>
                          <m:r>
                            <a:rPr lang="ar-AE" sz="2400" i="1"/>
                            <m:t>𝑑</m:t>
                          </m:r>
                          <m:d>
                            <m:dPr>
                              <m:ctrlPr>
                                <a:rPr lang="ar-AE" sz="2400" i="1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sz="2400" i="1"/>
                                <m:t>Total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Cost</m:t>
                              </m:r>
                            </m:e>
                          </m:d>
                        </m:num>
                        <m:den>
                          <m:r>
                            <a:rPr lang="ar-AE" sz="2400" i="1"/>
                            <m:t>𝑑</m:t>
                          </m:r>
                          <m:d>
                            <m:dPr>
                              <m:ctrlPr>
                                <a:rPr lang="ar-AE" sz="2400" i="1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sz="2400" i="1"/>
                                <m:t>Thickness</m:t>
                              </m:r>
                            </m:e>
                          </m:d>
                        </m:den>
                      </m:f>
                      <m:r>
                        <a:rPr lang="ar-AE" sz="2400"/>
                        <m:t>=</m:t>
                      </m:r>
                      <m:r>
                        <a:rPr lang="ar-AE" sz="2400"/>
                        <m:t>0</m:t>
                      </m:r>
                    </m:oMath>
                  </m:oMathPara>
                </a14:m>
                <a:endParaRPr lang="ar-AE" sz="2400" b="0" dirty="0"/>
              </a:p>
              <a:p>
                <a:pPr marL="0" indent="0">
                  <a:buNone/>
                </a:pPr>
                <a:r>
                  <a:rPr lang="en-IN" sz="2400" dirty="0"/>
                  <a:t>At this point:</a:t>
                </a:r>
              </a:p>
              <a:p>
                <a:pPr lvl="1"/>
                <a:r>
                  <a:rPr lang="en-IN" dirty="0"/>
                  <a:t>Heat loss is economically acceptable</a:t>
                </a:r>
              </a:p>
              <a:p>
                <a:pPr lvl="1"/>
                <a:r>
                  <a:rPr lang="en-IN" dirty="0"/>
                  <a:t>Insulation cost is justified</a:t>
                </a:r>
              </a:p>
              <a:p>
                <a:pPr lvl="1"/>
                <a:r>
                  <a:rPr lang="en-IN" dirty="0"/>
                  <a:t>Total operating cost is minimum</a:t>
                </a:r>
              </a:p>
              <a:p>
                <a:pPr marL="0" indent="0">
                  <a:buNone/>
                </a:pPr>
                <a:r>
                  <a:rPr lang="en-IN" sz="2400" dirty="0"/>
                  <a:t>This thickness is called </a:t>
                </a:r>
                <a:r>
                  <a:rPr lang="en-IN" sz="2400" b="1" dirty="0"/>
                  <a:t>Economic Thickness of Insulation</a:t>
                </a:r>
                <a:r>
                  <a:rPr lang="en-IN" sz="2400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81ABC75-086B-E0AD-3A7E-CBAB95FC1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378"/>
                <a:ext cx="10515600" cy="4643585"/>
              </a:xfrm>
              <a:blipFill>
                <a:blip r:embed="rId2"/>
                <a:stretch>
                  <a:fillRect l="-928" t="-1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82F9D2-F75C-2DF0-D729-8D8599A62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99B5F6-7E66-8A86-0980-F7E4F23EF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4017A8-147E-DA08-6817-4EA3C340F9D8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F6169-2FF4-8148-F32C-70F0BE93A8A9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7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DF4C7-8E17-1E7B-D5C3-E97503A1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9ACA6-5149-F4D8-5B88-68357694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21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Sample( sheets)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1B207-8F96-F45C-6DA2-C7A669B7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8CAD8-CCF9-19AC-3E6F-3CF6747B9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D0A532-BC24-3FAC-FEC9-9A6635484C20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C69F9-7D2F-FB52-80DF-78DF7F30E50C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0EBFD9F-ADC6-E91C-9889-82FEA2A9B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3" r="5616"/>
          <a:stretch>
            <a:fillRect/>
          </a:stretch>
        </p:blipFill>
        <p:spPr>
          <a:xfrm>
            <a:off x="838200" y="1222896"/>
            <a:ext cx="7743092" cy="5269978"/>
          </a:xfrm>
        </p:spPr>
      </p:pic>
    </p:spTree>
    <p:extLst>
      <p:ext uri="{BB962C8B-B14F-4D97-AF65-F5344CB8AC3E}">
        <p14:creationId xmlns:p14="http://schemas.microsoft.com/office/powerpoint/2010/main" val="96356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107F1-2F87-430C-2E28-066EE64D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1151A3-98F4-9941-07FF-E3E80BCE9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76" y="5944043"/>
            <a:ext cx="407963" cy="40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CEEFBA-477D-27CF-09C8-47094D30F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476" y="6431575"/>
            <a:ext cx="407963" cy="407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33BB76-026D-0199-B289-C8A8CBEB1AD3}"/>
              </a:ext>
            </a:extLst>
          </p:cNvPr>
          <p:cNvSpPr txBox="1"/>
          <p:nvPr/>
        </p:nvSpPr>
        <p:spPr>
          <a:xfrm>
            <a:off x="9444439" y="6054348"/>
            <a:ext cx="3046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Arial Black" panose="020B0A04020102020204" pitchFamily="34" charset="0"/>
                <a:cs typeface="Arial" panose="020B0604020202020204" pitchFamily="34" charset="0"/>
              </a:rPr>
              <a:t>KAVINRAJA CHAKRAVARTHY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5400E-A0D8-E9E3-0087-43ABA6C69D2B}"/>
              </a:ext>
            </a:extLst>
          </p:cNvPr>
          <p:cNvSpPr txBox="1"/>
          <p:nvPr/>
        </p:nvSpPr>
        <p:spPr>
          <a:xfrm>
            <a:off x="9453560" y="6481667"/>
            <a:ext cx="2489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1F2328"/>
                </a:solidFill>
                <a:effectLst/>
                <a:latin typeface="Arial Black" panose="020B0A04020102020204" pitchFamily="34" charset="0"/>
              </a:rPr>
              <a:t>Kavinraja Chakravarthy</a:t>
            </a:r>
            <a:endParaRPr lang="en-IN" sz="14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69D19-DF62-7FC2-ED13-FFBFEAD68D49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THANK YOU</a:t>
            </a:r>
            <a:endParaRPr lang="en-IN" sz="6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F8F0E-8243-5CCA-DD58-90BDB7873106}"/>
              </a:ext>
            </a:extLst>
          </p:cNvPr>
          <p:cNvSpPr txBox="1"/>
          <p:nvPr/>
        </p:nvSpPr>
        <p:spPr>
          <a:xfrm>
            <a:off x="478302" y="913956"/>
            <a:ext cx="10621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repo / download link: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https://github.com/kavinrajachakravarthy/Efficient-Thermal-Insulation-Design-for-Industrial-Pipelines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20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682</Words>
  <Application>Microsoft Office PowerPoint</Application>
  <PresentationFormat>Widescreen</PresentationFormat>
  <Paragraphs>161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Cambria Math</vt:lpstr>
      <vt:lpstr>Google Sans Text</vt:lpstr>
      <vt:lpstr>Wingdings</vt:lpstr>
      <vt:lpstr>Office Theme</vt:lpstr>
      <vt:lpstr>Efficient Thermal Insulation Design for Industrial Pipelines</vt:lpstr>
      <vt:lpstr>Problem Statement</vt:lpstr>
      <vt:lpstr>Heat Transfer Mechanism in Insulated Pipes</vt:lpstr>
      <vt:lpstr>Heat Transfer Equation</vt:lpstr>
      <vt:lpstr>Insulation Thickness for a Hot Pipe</vt:lpstr>
      <vt:lpstr>Importance of Proper Insulation Thickness</vt:lpstr>
      <vt:lpstr>Industrial Pipe Insulation: Materials &amp; Selection</vt:lpstr>
      <vt:lpstr>Minimizing Heat Loss in Insulated Piping Systems</vt:lpstr>
      <vt:lpstr>Insulation Cost Analysis</vt:lpstr>
      <vt:lpstr>Minimizing Insulation Material Cost</vt:lpstr>
      <vt:lpstr>Economic Insulation Thickness</vt:lpstr>
      <vt:lpstr>Sample( sheets)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kavinraja chakravarthy E</dc:creator>
  <cp:lastModifiedBy>kavinraja chakravarthy E</cp:lastModifiedBy>
  <cp:revision>5</cp:revision>
  <dcterms:created xsi:type="dcterms:W3CDTF">2025-12-11T13:22:07Z</dcterms:created>
  <dcterms:modified xsi:type="dcterms:W3CDTF">2025-12-31T13:03:46Z</dcterms:modified>
</cp:coreProperties>
</file>